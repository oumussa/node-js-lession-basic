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11"/>
  </p:notesMasterIdLst>
  <p:sldIdLst>
    <p:sldId id="256" r:id="rId2"/>
    <p:sldId id="259" r:id="rId3"/>
    <p:sldId id="262" r:id="rId4"/>
    <p:sldId id="347" r:id="rId5"/>
    <p:sldId id="260" r:id="rId6"/>
    <p:sldId id="350" r:id="rId7"/>
    <p:sldId id="351" r:id="rId8"/>
    <p:sldId id="352" r:id="rId9"/>
    <p:sldId id="298" r:id="rId10"/>
  </p:sldIdLst>
  <p:sldSz cx="9144000" cy="5143500" type="screen16x9"/>
  <p:notesSz cx="6858000" cy="9144000"/>
  <p:embeddedFontLst>
    <p:embeddedFont>
      <p:font typeface="Anonymous Pro" panose="020B0604020202020204" charset="0"/>
      <p:regular r:id="rId12"/>
      <p:bold r:id="rId13"/>
      <p:italic r:id="rId14"/>
      <p:boldItalic r:id="rId15"/>
    </p:embeddedFont>
    <p:embeddedFont>
      <p:font typeface="Coming Soon" panose="020B0604020202020204" charset="0"/>
      <p:regular r:id="rId16"/>
    </p:embeddedFont>
    <p:embeddedFont>
      <p:font typeface="Concert One" panose="020B0604020202020204" charset="0"/>
      <p:regular r:id="rId17"/>
    </p:embeddedFont>
    <p:embeddedFont>
      <p:font typeface="Khmer OS System" panose="02000500000000020004" pitchFamily="2" charset="0"/>
      <p:regular r:id="rId18"/>
    </p:embeddedFont>
    <p:embeddedFont>
      <p:font typeface="Roboto Mono Medium" panose="020B060402020202020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3EFD3BA-712F-4097-8564-0424175EBBD8}">
  <a:tblStyle styleId="{43EFD3BA-712F-4097-8564-0424175EBBD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318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853034354b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853034354b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853034354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853034354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853034354b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853034354b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26259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777e314435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777e314435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853034354b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853034354b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83026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777e314435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777e314435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79960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777e314435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777e314435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71687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853034354b_0_247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7" name="Google Shape;627;g853034354b_0_247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 rotWithShape="1">
          <a:blip r:embed="rId3">
            <a:alphaModFix/>
          </a:blip>
          <a:srcRect b="61089"/>
          <a:stretch/>
        </p:blipFill>
        <p:spPr>
          <a:xfrm rot="-620881">
            <a:off x="1853551" y="40483"/>
            <a:ext cx="2068426" cy="17727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 rotWithShape="1">
          <a:blip r:embed="rId4">
            <a:alphaModFix/>
          </a:blip>
          <a:srcRect r="1545" b="6838"/>
          <a:stretch/>
        </p:blipFill>
        <p:spPr>
          <a:xfrm>
            <a:off x="1047887" y="524012"/>
            <a:ext cx="7048226" cy="4102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93925" y="2989525"/>
            <a:ext cx="1584774" cy="1852801"/>
          </a:xfrm>
          <a:prstGeom prst="rect">
            <a:avLst/>
          </a:prstGeom>
          <a:noFill/>
          <a:ln>
            <a:noFill/>
          </a:ln>
          <a:effectLst>
            <a:outerShdw blurRad="57150" dist="19050" dir="3300000" algn="bl" rotWithShape="0">
              <a:srgbClr val="000000">
                <a:alpha val="34000"/>
              </a:srgbClr>
            </a:outerShdw>
          </a:effectLst>
        </p:spPr>
      </p:pic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532100" y="1728423"/>
            <a:ext cx="6079800" cy="165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72763" y="3769325"/>
            <a:ext cx="14271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4151" y="447699"/>
            <a:ext cx="5395700" cy="42481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2673000" y="2550900"/>
            <a:ext cx="3798000" cy="8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1"/>
          </p:nvPr>
        </p:nvSpPr>
        <p:spPr>
          <a:xfrm>
            <a:off x="2937741" y="3307350"/>
            <a:ext cx="3268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2pPr>
            <a:lvl3pPr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3pPr>
            <a:lvl4pPr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4pPr>
            <a:lvl5pPr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5pPr>
            <a:lvl6pPr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6pPr>
            <a:lvl7pPr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7pPr>
            <a:lvl8pPr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8pPr>
            <a:lvl9pPr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title" idx="2" hasCustomPrompt="1"/>
          </p:nvPr>
        </p:nvSpPr>
        <p:spPr>
          <a:xfrm>
            <a:off x="3778200" y="1403800"/>
            <a:ext cx="1587600" cy="10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7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425" y="201113"/>
            <a:ext cx="8635149" cy="474127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996375" y="1900525"/>
            <a:ext cx="2901600" cy="227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1pPr>
            <a:lvl2pPr marL="914400" lvl="1" indent="-330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2pPr>
            <a:lvl3pPr marL="1371600" lvl="2" indent="-330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3pPr>
            <a:lvl4pPr marL="1828800" lvl="3" indent="-330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4pPr>
            <a:lvl5pPr marL="2286000" lvl="4" indent="-330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5pPr>
            <a:lvl6pPr marL="2743200" lvl="5" indent="-330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6pPr>
            <a:lvl7pPr marL="3200400" lvl="6" indent="-330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7pPr>
            <a:lvl8pPr marL="3657600" lvl="7" indent="-330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8pPr>
            <a:lvl9pPr marL="4114800" lvl="8" indent="-3302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1002325" y="711181"/>
            <a:ext cx="240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896489">
            <a:off x="6092370" y="-1056710"/>
            <a:ext cx="2878009" cy="3364796"/>
          </a:xfrm>
          <a:prstGeom prst="rect">
            <a:avLst/>
          </a:prstGeom>
          <a:noFill/>
          <a:ln>
            <a:noFill/>
          </a:ln>
          <a:effectLst>
            <a:outerShdw blurRad="85725" dist="57150" dir="5400000" algn="bl" rotWithShape="0">
              <a:srgbClr val="000000">
                <a:alpha val="39000"/>
              </a:srgbClr>
            </a:outerShdw>
          </a:effectLst>
        </p:spPr>
      </p:pic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 rot="877333">
            <a:off x="6289345" y="436639"/>
            <a:ext cx="2155721" cy="15108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 b="0"/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SECTION_TITLE_AND_DESCRIPTION_1_1_1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5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5"/>
          <p:cNvPicPr preferRelativeResize="0"/>
          <p:nvPr/>
        </p:nvPicPr>
        <p:blipFill rotWithShape="1">
          <a:blip r:embed="rId3">
            <a:alphaModFix/>
          </a:blip>
          <a:srcRect t="16734" r="8892" b="18300"/>
          <a:stretch/>
        </p:blipFill>
        <p:spPr>
          <a:xfrm rot="-5400000">
            <a:off x="650175" y="465007"/>
            <a:ext cx="2036850" cy="846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5"/>
          <p:cNvPicPr preferRelativeResize="0"/>
          <p:nvPr/>
        </p:nvPicPr>
        <p:blipFill rotWithShape="1">
          <a:blip r:embed="rId3">
            <a:alphaModFix/>
          </a:blip>
          <a:srcRect t="16734" r="8892" b="18300"/>
          <a:stretch/>
        </p:blipFill>
        <p:spPr>
          <a:xfrm rot="-5400000">
            <a:off x="1262550" y="465007"/>
            <a:ext cx="2036850" cy="846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5"/>
          <p:cNvPicPr preferRelativeResize="0"/>
          <p:nvPr/>
        </p:nvPicPr>
        <p:blipFill rotWithShape="1">
          <a:blip r:embed="rId4">
            <a:alphaModFix/>
          </a:blip>
          <a:srcRect r="1545" b="6838"/>
          <a:stretch/>
        </p:blipFill>
        <p:spPr>
          <a:xfrm>
            <a:off x="384887" y="134900"/>
            <a:ext cx="8374226" cy="4873724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5"/>
          <p:cNvSpPr txBox="1">
            <a:spLocks noGrp="1"/>
          </p:cNvSpPr>
          <p:nvPr>
            <p:ph type="title"/>
          </p:nvPr>
        </p:nvSpPr>
        <p:spPr>
          <a:xfrm>
            <a:off x="1922400" y="3538630"/>
            <a:ext cx="2140200" cy="48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nonymous Pro"/>
              <a:buNone/>
              <a:defRPr sz="1600" b="0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9pPr>
          </a:lstStyle>
          <a:p>
            <a:endParaRPr/>
          </a:p>
        </p:txBody>
      </p:sp>
      <p:sp>
        <p:nvSpPr>
          <p:cNvPr id="90" name="Google Shape;90;p15"/>
          <p:cNvSpPr txBox="1">
            <a:spLocks noGrp="1"/>
          </p:cNvSpPr>
          <p:nvPr>
            <p:ph type="subTitle" idx="1"/>
          </p:nvPr>
        </p:nvSpPr>
        <p:spPr>
          <a:xfrm>
            <a:off x="1922400" y="1269487"/>
            <a:ext cx="3439500" cy="218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ncert One"/>
              <a:buNone/>
              <a:defRPr sz="2400" b="1">
                <a:latin typeface="Concert One"/>
                <a:ea typeface="Concert One"/>
                <a:cs typeface="Concert One"/>
                <a:sym typeface="Concert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23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APTION_ONLY_1_1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4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775" y="186275"/>
            <a:ext cx="8632448" cy="4770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SECTION_TITLE_AND_DESCRIPTION_1_1_3_1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25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425" y="201113"/>
            <a:ext cx="8635149" cy="474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IG_NUMBER_1_1_2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6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6"/>
          <p:cNvPicPr preferRelativeResize="0"/>
          <p:nvPr/>
        </p:nvPicPr>
        <p:blipFill rotWithShape="1">
          <a:blip r:embed="rId3">
            <a:alphaModFix/>
          </a:blip>
          <a:srcRect r="1545" b="6838"/>
          <a:stretch/>
        </p:blipFill>
        <p:spPr>
          <a:xfrm>
            <a:off x="384887" y="134900"/>
            <a:ext cx="8374226" cy="4873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oncert One"/>
              <a:buNone/>
              <a:defRPr sz="2800" b="1">
                <a:solidFill>
                  <a:schemeClr val="accent2"/>
                </a:solidFill>
                <a:latin typeface="Concert One"/>
                <a:ea typeface="Concert One"/>
                <a:cs typeface="Concert One"/>
                <a:sym typeface="Concert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249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 Mono Medium"/>
              <a:buChar char="●"/>
              <a:defRPr sz="1800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○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■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●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○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■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●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○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Font typeface="Roboto Mono Medium"/>
              <a:buChar char="■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  <p:sldLayoutId id="2147483654" r:id="rId4"/>
    <p:sldLayoutId id="2147483661" r:id="rId5"/>
    <p:sldLayoutId id="2147483669" r:id="rId6"/>
    <p:sldLayoutId id="2147483670" r:id="rId7"/>
    <p:sldLayoutId id="2147483671" r:id="rId8"/>
    <p:sldLayoutId id="2147483672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0"/>
          <p:cNvSpPr txBox="1">
            <a:spLocks noGrp="1"/>
          </p:cNvSpPr>
          <p:nvPr>
            <p:ph type="ctrTitle"/>
          </p:nvPr>
        </p:nvSpPr>
        <p:spPr>
          <a:xfrm>
            <a:off x="1532100" y="1714463"/>
            <a:ext cx="6079800" cy="165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>
                <a:solidFill>
                  <a:schemeClr val="accent2"/>
                </a:solidFill>
              </a:rPr>
              <a:t>Node</a:t>
            </a:r>
            <a:r>
              <a:rPr lang="en" sz="5400" dirty="0"/>
              <a:t>.js</a:t>
            </a:r>
            <a:br>
              <a:rPr lang="en" sz="5400" dirty="0"/>
            </a:br>
            <a:r>
              <a:rPr lang="en" sz="5400" dirty="0">
                <a:solidFill>
                  <a:schemeClr val="accent2"/>
                </a:solidFill>
              </a:rPr>
              <a:t> Express Apps</a:t>
            </a:r>
            <a:endParaRPr sz="5400" dirty="0">
              <a:solidFill>
                <a:schemeClr val="accent2"/>
              </a:solidFill>
            </a:endParaRPr>
          </a:p>
        </p:txBody>
      </p:sp>
      <p:sp>
        <p:nvSpPr>
          <p:cNvPr id="179" name="Google Shape;179;p30"/>
          <p:cNvSpPr txBox="1">
            <a:spLocks noGrp="1"/>
          </p:cNvSpPr>
          <p:nvPr>
            <p:ph type="subTitle" idx="1"/>
          </p:nvPr>
        </p:nvSpPr>
        <p:spPr>
          <a:xfrm>
            <a:off x="1672763" y="3769325"/>
            <a:ext cx="14271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 dirty="0"/>
              <a:t>Here </a:t>
            </a:r>
            <a:r>
              <a:rPr lang="en" dirty="0"/>
              <a:t>We Go</a:t>
            </a:r>
            <a:r>
              <a:rPr lang="en" b="0" dirty="0"/>
              <a:t>!</a:t>
            </a:r>
            <a:endParaRPr b="0" dirty="0"/>
          </a:p>
        </p:txBody>
      </p:sp>
      <p:sp>
        <p:nvSpPr>
          <p:cNvPr id="180" name="Google Shape;180;p30"/>
          <p:cNvSpPr/>
          <p:nvPr/>
        </p:nvSpPr>
        <p:spPr>
          <a:xfrm>
            <a:off x="2188239" y="2886376"/>
            <a:ext cx="617075" cy="15875"/>
          </a:xfrm>
          <a:custGeom>
            <a:avLst/>
            <a:gdLst/>
            <a:ahLst/>
            <a:cxnLst/>
            <a:rect l="l" t="t" r="r" b="b"/>
            <a:pathLst>
              <a:path w="24683" h="635" extrusionOk="0">
                <a:moveTo>
                  <a:pt x="0" y="635"/>
                </a:moveTo>
                <a:cubicBezTo>
                  <a:pt x="8115" y="-719"/>
                  <a:pt x="16455" y="635"/>
                  <a:pt x="24683" y="635"/>
                </a:cubicBezTo>
              </a:path>
            </a:pathLst>
          </a:custGeom>
          <a:noFill/>
          <a:ln w="762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81" name="Google Shape;181;p30"/>
          <p:cNvSpPr/>
          <p:nvPr/>
        </p:nvSpPr>
        <p:spPr>
          <a:xfrm>
            <a:off x="6634977" y="2869286"/>
            <a:ext cx="613650" cy="13775"/>
          </a:xfrm>
          <a:custGeom>
            <a:avLst/>
            <a:gdLst/>
            <a:ahLst/>
            <a:cxnLst/>
            <a:rect l="l" t="t" r="r" b="b"/>
            <a:pathLst>
              <a:path w="24546" h="551" extrusionOk="0">
                <a:moveTo>
                  <a:pt x="0" y="551"/>
                </a:moveTo>
                <a:cubicBezTo>
                  <a:pt x="8133" y="-353"/>
                  <a:pt x="16363" y="137"/>
                  <a:pt x="24546" y="137"/>
                </a:cubicBezTo>
              </a:path>
            </a:pathLst>
          </a:custGeom>
          <a:noFill/>
          <a:ln w="762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82" name="Google Shape;182;p30"/>
          <p:cNvSpPr/>
          <p:nvPr/>
        </p:nvSpPr>
        <p:spPr>
          <a:xfrm>
            <a:off x="1889900" y="4413504"/>
            <a:ext cx="992850" cy="102600"/>
          </a:xfrm>
          <a:custGeom>
            <a:avLst/>
            <a:gdLst/>
            <a:ahLst/>
            <a:cxnLst/>
            <a:rect l="l" t="t" r="r" b="b"/>
            <a:pathLst>
              <a:path w="39714" h="4104" extrusionOk="0">
                <a:moveTo>
                  <a:pt x="0" y="4104"/>
                </a:moveTo>
                <a:cubicBezTo>
                  <a:pt x="11382" y="-2730"/>
                  <a:pt x="26437" y="1070"/>
                  <a:pt x="39714" y="1070"/>
                </a:cubicBezTo>
              </a:path>
            </a:pathLst>
          </a:cu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DE8A74E-1445-6BC3-DA93-CA82AAEFEA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8753" y="821328"/>
            <a:ext cx="2806493" cy="1214575"/>
          </a:xfrm>
          <a:prstGeom prst="rect">
            <a:avLst/>
          </a:prstGeom>
        </p:spPr>
      </p:pic>
      <p:sp>
        <p:nvSpPr>
          <p:cNvPr id="3" name="Google Shape;216;p33">
            <a:extLst>
              <a:ext uri="{FF2B5EF4-FFF2-40B4-BE49-F238E27FC236}">
                <a16:creationId xmlns:a16="http://schemas.microsoft.com/office/drawing/2014/main" id="{42FD002E-FB10-E499-6A2D-2C8C901F4E71}"/>
              </a:ext>
            </a:extLst>
          </p:cNvPr>
          <p:cNvSpPr txBox="1">
            <a:spLocks/>
          </p:cNvSpPr>
          <p:nvPr/>
        </p:nvSpPr>
        <p:spPr>
          <a:xfrm>
            <a:off x="5390347" y="3851039"/>
            <a:ext cx="2528378" cy="471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Concert One"/>
              <a:buNone/>
              <a:defRPr sz="4000" b="1" i="0" u="none" strike="noStrike" cap="none">
                <a:solidFill>
                  <a:schemeClr val="accent2"/>
                </a:solidFill>
                <a:latin typeface="Concert One"/>
                <a:ea typeface="Concert One"/>
                <a:cs typeface="Concert One"/>
                <a:sym typeface="Concert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US" sz="2000" dirty="0"/>
              <a:t>By: Chen </a:t>
            </a:r>
            <a:r>
              <a:rPr lang="en-US" sz="2000" dirty="0" err="1"/>
              <a:t>Sovanminea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3"/>
          <p:cNvSpPr txBox="1">
            <a:spLocks noGrp="1"/>
          </p:cNvSpPr>
          <p:nvPr>
            <p:ph type="title" idx="2"/>
          </p:nvPr>
        </p:nvSpPr>
        <p:spPr>
          <a:xfrm>
            <a:off x="3778200" y="1403800"/>
            <a:ext cx="1587600" cy="10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pic>
        <p:nvPicPr>
          <p:cNvPr id="213" name="Google Shape;213;p33"/>
          <p:cNvPicPr preferRelativeResize="0"/>
          <p:nvPr/>
        </p:nvPicPr>
        <p:blipFill>
          <a:blip r:embed="rId3">
            <a:alphaModFix amt="86000"/>
          </a:blip>
          <a:stretch>
            <a:fillRect/>
          </a:stretch>
        </p:blipFill>
        <p:spPr>
          <a:xfrm rot="1344117">
            <a:off x="3823925" y="1324475"/>
            <a:ext cx="1496149" cy="116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33"/>
          <p:cNvPicPr preferRelativeResize="0"/>
          <p:nvPr/>
        </p:nvPicPr>
        <p:blipFill rotWithShape="1">
          <a:blip r:embed="rId4">
            <a:alphaModFix/>
          </a:blip>
          <a:srcRect t="16970" r="8892" b="21025"/>
          <a:stretch/>
        </p:blipFill>
        <p:spPr>
          <a:xfrm rot="10800000">
            <a:off x="833700" y="1225600"/>
            <a:ext cx="2036850" cy="81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3"/>
          <p:cNvPicPr preferRelativeResize="0"/>
          <p:nvPr/>
        </p:nvPicPr>
        <p:blipFill rotWithShape="1">
          <a:blip r:embed="rId5">
            <a:alphaModFix/>
          </a:blip>
          <a:srcRect t="16734" r="8892" b="18300"/>
          <a:stretch/>
        </p:blipFill>
        <p:spPr>
          <a:xfrm rot="10800000">
            <a:off x="833700" y="1737957"/>
            <a:ext cx="2036850" cy="846042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3"/>
          <p:cNvSpPr txBox="1">
            <a:spLocks noGrp="1"/>
          </p:cNvSpPr>
          <p:nvPr>
            <p:ph type="title"/>
          </p:nvPr>
        </p:nvSpPr>
        <p:spPr>
          <a:xfrm>
            <a:off x="2428695" y="2550900"/>
            <a:ext cx="4390916" cy="8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What is Express?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22;p34">
            <a:extLst>
              <a:ext uri="{FF2B5EF4-FFF2-40B4-BE49-F238E27FC236}">
                <a16:creationId xmlns:a16="http://schemas.microsoft.com/office/drawing/2014/main" id="{4CFAB1BC-9146-B2BB-87C0-82D4E4D23BB4}"/>
              </a:ext>
            </a:extLst>
          </p:cNvPr>
          <p:cNvSpPr txBox="1">
            <a:spLocks/>
          </p:cNvSpPr>
          <p:nvPr/>
        </p:nvSpPr>
        <p:spPr>
          <a:xfrm>
            <a:off x="1238148" y="568043"/>
            <a:ext cx="6809232" cy="13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ncert One"/>
              <a:buNone/>
              <a:defRPr sz="2400" b="1" i="0" u="none" strike="noStrike" cap="none">
                <a:solidFill>
                  <a:schemeClr val="accent2"/>
                </a:solidFill>
                <a:latin typeface="Concert One"/>
                <a:ea typeface="Concert One"/>
                <a:cs typeface="Concert One"/>
                <a:sym typeface="Concert On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171450" indent="-171450">
              <a:lnSpc>
                <a:spcPct val="150000"/>
              </a:lnSpc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Express </a:t>
            </a: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គឺជា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Framework </a:t>
            </a: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របស់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</a:t>
            </a:r>
            <a:r>
              <a:rPr lang="en-US" sz="1200" b="0" dirty="0" err="1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nodejs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</a:t>
            </a: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ដែលប្រើសម្រាប់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manage route, request, server-side logic </a:t>
            </a: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និង​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response </a:t>
            </a: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បានយ៉ាងងាយស្រួល ។</a:t>
            </a:r>
            <a:endParaRPr lang="en-US" sz="1200" b="0" dirty="0">
              <a:solidFill>
                <a:schemeClr val="tx1">
                  <a:lumMod val="75000"/>
                </a:schemeClr>
              </a:solidFill>
              <a:latin typeface="Khmer OS System" panose="02000500000000020004" pitchFamily="2" charset="0"/>
              <a:cs typeface="Khmer OS System" panose="02000500000000020004" pitchFamily="2" charset="0"/>
            </a:endParaRPr>
          </a:p>
          <a:p>
            <a:pPr marL="171450" indent="-171450">
              <a:lnSpc>
                <a:spcPct val="150000"/>
              </a:lnSpc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ដើម្បីអាចប្រើ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Express </a:t>
            </a: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បានជាដំបូងយើងត្រូវដំឡើង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package </a:t>
            </a: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វាជាមុនសិន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‘</a:t>
            </a:r>
            <a:r>
              <a:rPr lang="en-US" sz="1200" dirty="0" err="1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npm</a:t>
            </a:r>
            <a:r>
              <a:rPr lang="en-US" sz="120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install </a:t>
            </a:r>
            <a:r>
              <a:rPr lang="en-US" sz="1200" dirty="0" err="1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express’</a:t>
            </a: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។</a:t>
            </a:r>
            <a:endParaRPr lang="en-US" sz="1200" b="0" dirty="0">
              <a:solidFill>
                <a:schemeClr val="tx1">
                  <a:lumMod val="75000"/>
                </a:schemeClr>
              </a:solidFill>
              <a:latin typeface="Khmer OS System" panose="02000500000000020004" pitchFamily="2" charset="0"/>
              <a:cs typeface="Khmer OS System" panose="02000500000000020004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685E09-61DD-54C9-4759-A9FD508FC6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8022" y="1926523"/>
            <a:ext cx="6490142" cy="252898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3"/>
          <p:cNvSpPr txBox="1">
            <a:spLocks noGrp="1"/>
          </p:cNvSpPr>
          <p:nvPr>
            <p:ph type="title" idx="2"/>
          </p:nvPr>
        </p:nvSpPr>
        <p:spPr>
          <a:xfrm>
            <a:off x="3778200" y="1403800"/>
            <a:ext cx="1587600" cy="10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pic>
        <p:nvPicPr>
          <p:cNvPr id="213" name="Google Shape;213;p33"/>
          <p:cNvPicPr preferRelativeResize="0"/>
          <p:nvPr/>
        </p:nvPicPr>
        <p:blipFill>
          <a:blip r:embed="rId3">
            <a:alphaModFix amt="86000"/>
          </a:blip>
          <a:stretch>
            <a:fillRect/>
          </a:stretch>
        </p:blipFill>
        <p:spPr>
          <a:xfrm rot="1344117">
            <a:off x="3823925" y="1324475"/>
            <a:ext cx="1496149" cy="116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33"/>
          <p:cNvPicPr preferRelativeResize="0"/>
          <p:nvPr/>
        </p:nvPicPr>
        <p:blipFill rotWithShape="1">
          <a:blip r:embed="rId4">
            <a:alphaModFix/>
          </a:blip>
          <a:srcRect t="16970" r="8892" b="21025"/>
          <a:stretch/>
        </p:blipFill>
        <p:spPr>
          <a:xfrm rot="10800000">
            <a:off x="833700" y="1225600"/>
            <a:ext cx="2036850" cy="81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3"/>
          <p:cNvPicPr preferRelativeResize="0"/>
          <p:nvPr/>
        </p:nvPicPr>
        <p:blipFill rotWithShape="1">
          <a:blip r:embed="rId5">
            <a:alphaModFix/>
          </a:blip>
          <a:srcRect t="16734" r="8892" b="18300"/>
          <a:stretch/>
        </p:blipFill>
        <p:spPr>
          <a:xfrm rot="10800000">
            <a:off x="833700" y="1737957"/>
            <a:ext cx="2036850" cy="846042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3"/>
          <p:cNvSpPr txBox="1">
            <a:spLocks noGrp="1"/>
          </p:cNvSpPr>
          <p:nvPr>
            <p:ph type="title"/>
          </p:nvPr>
        </p:nvSpPr>
        <p:spPr>
          <a:xfrm>
            <a:off x="2672999" y="2550900"/>
            <a:ext cx="4055867" cy="8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Creating an Express App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19752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4"/>
          <p:cNvSpPr txBox="1">
            <a:spLocks noGrp="1"/>
          </p:cNvSpPr>
          <p:nvPr>
            <p:ph type="title"/>
          </p:nvPr>
        </p:nvSpPr>
        <p:spPr>
          <a:xfrm>
            <a:off x="632377" y="711181"/>
            <a:ext cx="296938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Create an Express </a:t>
            </a:r>
            <a:endParaRPr dirty="0"/>
          </a:p>
        </p:txBody>
      </p:sp>
      <p:pic>
        <p:nvPicPr>
          <p:cNvPr id="224" name="Google Shape;224;p34"/>
          <p:cNvPicPr preferRelativeResize="0"/>
          <p:nvPr/>
        </p:nvPicPr>
        <p:blipFill>
          <a:blip r:embed="rId3">
            <a:alphaModFix amt="56000"/>
          </a:blip>
          <a:stretch>
            <a:fillRect/>
          </a:stretch>
        </p:blipFill>
        <p:spPr>
          <a:xfrm rot="10800000">
            <a:off x="754228" y="1103650"/>
            <a:ext cx="1918825" cy="21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2ADAB0D-5B90-AC2E-5896-5D6E0C7B56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9456" y="1508570"/>
            <a:ext cx="3660772" cy="2265026"/>
          </a:xfrm>
          <a:prstGeom prst="rect">
            <a:avLst/>
          </a:prstGeom>
        </p:spPr>
      </p:pic>
      <p:sp>
        <p:nvSpPr>
          <p:cNvPr id="8" name="Google Shape;222;p34">
            <a:extLst>
              <a:ext uri="{FF2B5EF4-FFF2-40B4-BE49-F238E27FC236}">
                <a16:creationId xmlns:a16="http://schemas.microsoft.com/office/drawing/2014/main" id="{9328C8CF-B54A-459E-9090-776B26260A8F}"/>
              </a:ext>
            </a:extLst>
          </p:cNvPr>
          <p:cNvSpPr txBox="1">
            <a:spLocks/>
          </p:cNvSpPr>
          <p:nvPr/>
        </p:nvSpPr>
        <p:spPr>
          <a:xfrm>
            <a:off x="575418" y="1625056"/>
            <a:ext cx="3623272" cy="13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ncert One"/>
              <a:buNone/>
              <a:defRPr sz="2400" b="1" i="0" u="none" strike="noStrike" cap="none">
                <a:solidFill>
                  <a:schemeClr val="accent2"/>
                </a:solidFill>
                <a:latin typeface="Concert One"/>
                <a:ea typeface="Concert One"/>
                <a:cs typeface="Concert One"/>
                <a:sym typeface="Concert On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171450" indent="-171450">
              <a:lnSpc>
                <a:spcPct val="150000"/>
              </a:lnSpc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Require Express package</a:t>
            </a:r>
          </a:p>
          <a:p>
            <a:pPr marL="171450" indent="-171450">
              <a:lnSpc>
                <a:spcPct val="150000"/>
              </a:lnSpc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sz="1200" b="0" dirty="0" err="1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app.get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() → HTTP GET method</a:t>
            </a:r>
          </a:p>
          <a:p>
            <a:pPr marL="171450" indent="-171450">
              <a:lnSpc>
                <a:spcPct val="150000"/>
              </a:lnSpc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req → request object</a:t>
            </a:r>
          </a:p>
          <a:p>
            <a:pPr marL="171450" indent="-171450">
              <a:lnSpc>
                <a:spcPct val="150000"/>
              </a:lnSpc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res → response object</a:t>
            </a:r>
          </a:p>
          <a:p>
            <a:pPr marL="171450" indent="-171450">
              <a:lnSpc>
                <a:spcPct val="150000"/>
              </a:lnSpc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Start a server with </a:t>
            </a:r>
            <a:r>
              <a:rPr lang="en-GB" sz="1050" dirty="0"/>
              <a:t>http://localhost:3000/</a:t>
            </a:r>
            <a:endParaRPr lang="en-US" sz="1200" b="0" dirty="0">
              <a:solidFill>
                <a:schemeClr val="tx1">
                  <a:lumMod val="75000"/>
                </a:schemeClr>
              </a:solidFill>
              <a:latin typeface="Khmer OS System" panose="02000500000000020004" pitchFamily="2" charset="0"/>
              <a:cs typeface="Khmer OS System" panose="02000500000000020004" pitchFamily="2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3"/>
          <p:cNvSpPr txBox="1">
            <a:spLocks noGrp="1"/>
          </p:cNvSpPr>
          <p:nvPr>
            <p:ph type="title" idx="2"/>
          </p:nvPr>
        </p:nvSpPr>
        <p:spPr>
          <a:xfrm>
            <a:off x="3778200" y="1403800"/>
            <a:ext cx="1587600" cy="10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pic>
        <p:nvPicPr>
          <p:cNvPr id="213" name="Google Shape;213;p33"/>
          <p:cNvPicPr preferRelativeResize="0"/>
          <p:nvPr/>
        </p:nvPicPr>
        <p:blipFill>
          <a:blip r:embed="rId3">
            <a:alphaModFix amt="86000"/>
          </a:blip>
          <a:stretch>
            <a:fillRect/>
          </a:stretch>
        </p:blipFill>
        <p:spPr>
          <a:xfrm rot="1344117">
            <a:off x="3828119" y="1324474"/>
            <a:ext cx="1496149" cy="116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33"/>
          <p:cNvPicPr preferRelativeResize="0"/>
          <p:nvPr/>
        </p:nvPicPr>
        <p:blipFill rotWithShape="1">
          <a:blip r:embed="rId4">
            <a:alphaModFix/>
          </a:blip>
          <a:srcRect t="16970" r="8892" b="21025"/>
          <a:stretch/>
        </p:blipFill>
        <p:spPr>
          <a:xfrm rot="10800000">
            <a:off x="833700" y="1225600"/>
            <a:ext cx="2036850" cy="81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3"/>
          <p:cNvPicPr preferRelativeResize="0"/>
          <p:nvPr/>
        </p:nvPicPr>
        <p:blipFill rotWithShape="1">
          <a:blip r:embed="rId5">
            <a:alphaModFix/>
          </a:blip>
          <a:srcRect t="16734" r="8892" b="18300"/>
          <a:stretch/>
        </p:blipFill>
        <p:spPr>
          <a:xfrm rot="10800000">
            <a:off x="833700" y="1737957"/>
            <a:ext cx="2036850" cy="846042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3"/>
          <p:cNvSpPr txBox="1">
            <a:spLocks noGrp="1"/>
          </p:cNvSpPr>
          <p:nvPr>
            <p:ph type="title"/>
          </p:nvPr>
        </p:nvSpPr>
        <p:spPr>
          <a:xfrm>
            <a:off x="2425402" y="2562194"/>
            <a:ext cx="4293193" cy="8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Return JSON Data</a:t>
            </a:r>
          </a:p>
        </p:txBody>
      </p:sp>
    </p:spTree>
    <p:extLst>
      <p:ext uri="{BB962C8B-B14F-4D97-AF65-F5344CB8AC3E}">
        <p14:creationId xmlns:p14="http://schemas.microsoft.com/office/powerpoint/2010/main" val="2462641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4"/>
          <p:cNvSpPr txBox="1">
            <a:spLocks noGrp="1"/>
          </p:cNvSpPr>
          <p:nvPr>
            <p:ph type="title"/>
          </p:nvPr>
        </p:nvSpPr>
        <p:spPr>
          <a:xfrm>
            <a:off x="632377" y="711181"/>
            <a:ext cx="296938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Create an Express </a:t>
            </a:r>
            <a:endParaRPr dirty="0"/>
          </a:p>
        </p:txBody>
      </p:sp>
      <p:pic>
        <p:nvPicPr>
          <p:cNvPr id="224" name="Google Shape;224;p34"/>
          <p:cNvPicPr preferRelativeResize="0"/>
          <p:nvPr/>
        </p:nvPicPr>
        <p:blipFill>
          <a:blip r:embed="rId3">
            <a:alphaModFix amt="56000"/>
          </a:blip>
          <a:stretch>
            <a:fillRect/>
          </a:stretch>
        </p:blipFill>
        <p:spPr>
          <a:xfrm rot="10800000">
            <a:off x="754228" y="1103650"/>
            <a:ext cx="1918825" cy="2162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222;p34">
            <a:extLst>
              <a:ext uri="{FF2B5EF4-FFF2-40B4-BE49-F238E27FC236}">
                <a16:creationId xmlns:a16="http://schemas.microsoft.com/office/drawing/2014/main" id="{9328C8CF-B54A-459E-9090-776B26260A8F}"/>
              </a:ext>
            </a:extLst>
          </p:cNvPr>
          <p:cNvSpPr txBox="1">
            <a:spLocks/>
          </p:cNvSpPr>
          <p:nvPr/>
        </p:nvSpPr>
        <p:spPr>
          <a:xfrm>
            <a:off x="575418" y="1625056"/>
            <a:ext cx="3623272" cy="13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ncert One"/>
              <a:buNone/>
              <a:defRPr sz="2400" b="1" i="0" u="none" strike="noStrike" cap="none">
                <a:solidFill>
                  <a:schemeClr val="accent2"/>
                </a:solidFill>
                <a:latin typeface="Concert One"/>
                <a:ea typeface="Concert One"/>
                <a:cs typeface="Concert One"/>
                <a:sym typeface="Concert On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171450" indent="-171450">
              <a:lnSpc>
                <a:spcPct val="150000"/>
              </a:lnSpc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APIs usually return JSON: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55E858-D6F5-4474-AD24-0CE3EB8D98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377" y="2210499"/>
            <a:ext cx="2871442" cy="1144354"/>
          </a:xfrm>
          <a:prstGeom prst="rect">
            <a:avLst/>
          </a:prstGeom>
        </p:spPr>
      </p:pic>
      <p:sp>
        <p:nvSpPr>
          <p:cNvPr id="9" name="Google Shape;222;p34">
            <a:extLst>
              <a:ext uri="{FF2B5EF4-FFF2-40B4-BE49-F238E27FC236}">
                <a16:creationId xmlns:a16="http://schemas.microsoft.com/office/drawing/2014/main" id="{B34BDCE5-0CC6-4481-8EB6-8F02838C8C96}"/>
              </a:ext>
            </a:extLst>
          </p:cNvPr>
          <p:cNvSpPr txBox="1">
            <a:spLocks/>
          </p:cNvSpPr>
          <p:nvPr/>
        </p:nvSpPr>
        <p:spPr>
          <a:xfrm>
            <a:off x="575418" y="3506234"/>
            <a:ext cx="3117502" cy="868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ncert One"/>
              <a:buNone/>
              <a:defRPr sz="2400" b="1" i="0" u="none" strike="noStrike" cap="none">
                <a:solidFill>
                  <a:schemeClr val="accent2"/>
                </a:solidFill>
                <a:latin typeface="Concert One"/>
                <a:ea typeface="Concert One"/>
                <a:cs typeface="Concert One"/>
                <a:sym typeface="Concert On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171450" indent="-171450">
              <a:lnSpc>
                <a:spcPct val="150000"/>
              </a:lnSpc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sz="1200" b="0" dirty="0" err="1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res.json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() automatically sets Content-Type to application/json</a:t>
            </a:r>
          </a:p>
        </p:txBody>
      </p:sp>
      <p:sp>
        <p:nvSpPr>
          <p:cNvPr id="10" name="Google Shape;222;p34">
            <a:extLst>
              <a:ext uri="{FF2B5EF4-FFF2-40B4-BE49-F238E27FC236}">
                <a16:creationId xmlns:a16="http://schemas.microsoft.com/office/drawing/2014/main" id="{17B7033C-2852-422F-BECF-8748488E8BFE}"/>
              </a:ext>
            </a:extLst>
          </p:cNvPr>
          <p:cNvSpPr txBox="1">
            <a:spLocks/>
          </p:cNvSpPr>
          <p:nvPr/>
        </p:nvSpPr>
        <p:spPr>
          <a:xfrm>
            <a:off x="4840449" y="997531"/>
            <a:ext cx="3888295" cy="1979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ncert One"/>
              <a:buNone/>
              <a:defRPr sz="2400" b="1" i="0" u="none" strike="noStrike" cap="none">
                <a:solidFill>
                  <a:schemeClr val="accent2"/>
                </a:solidFill>
                <a:latin typeface="Concert One"/>
                <a:ea typeface="Concert One"/>
                <a:cs typeface="Concert One"/>
                <a:sym typeface="Concert On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171450" indent="-171450">
              <a:lnSpc>
                <a:spcPct val="150000"/>
              </a:lnSpc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When use </a:t>
            </a:r>
            <a:r>
              <a:rPr lang="en-US" sz="1200" b="0" dirty="0" err="1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res.json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(data):</a:t>
            </a:r>
          </a:p>
          <a:p>
            <a:pPr marL="171450" indent="-171450">
              <a:lnSpc>
                <a:spcPct val="150000"/>
              </a:lnSpc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Express </a:t>
            </a:r>
            <a:r>
              <a:rPr lang="fr-FR" sz="1200" b="0" dirty="0" err="1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Converts</a:t>
            </a:r>
            <a:r>
              <a:rPr lang="fr-FR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JavaScript </a:t>
            </a:r>
            <a:r>
              <a:rPr lang="fr-FR" sz="1200" b="0" dirty="0" err="1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object</a:t>
            </a:r>
            <a:r>
              <a:rPr lang="fr-FR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→ JSON string</a:t>
            </a:r>
          </a:p>
          <a:p>
            <a:pPr marL="171450" indent="-171450">
              <a:lnSpc>
                <a:spcPct val="150000"/>
              </a:lnSpc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fr-FR" sz="1200" b="0" dirty="0" err="1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Sends</a:t>
            </a:r>
            <a:r>
              <a:rPr lang="fr-FR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</a:t>
            </a:r>
            <a:r>
              <a:rPr lang="fr-FR" sz="1200" b="0" dirty="0" err="1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response</a:t>
            </a:r>
            <a:r>
              <a:rPr lang="fr-FR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to client	</a:t>
            </a:r>
          </a:p>
          <a:p>
            <a:pPr marL="171450" indent="-171450">
              <a:lnSpc>
                <a:spcPct val="150000"/>
              </a:lnSpc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For API → Use </a:t>
            </a:r>
            <a:r>
              <a:rPr lang="en-US" sz="1200" b="0" dirty="0" err="1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res.json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()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F8CD29-9FF5-448E-AA3A-95281FB6ED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6974" y="2969238"/>
            <a:ext cx="3646852" cy="1176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997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4"/>
          <p:cNvSpPr txBox="1">
            <a:spLocks noGrp="1"/>
          </p:cNvSpPr>
          <p:nvPr>
            <p:ph type="title"/>
          </p:nvPr>
        </p:nvSpPr>
        <p:spPr>
          <a:xfrm>
            <a:off x="632377" y="711181"/>
            <a:ext cx="296938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Summary</a:t>
            </a:r>
            <a:endParaRPr dirty="0"/>
          </a:p>
        </p:txBody>
      </p:sp>
      <p:pic>
        <p:nvPicPr>
          <p:cNvPr id="224" name="Google Shape;224;p34"/>
          <p:cNvPicPr preferRelativeResize="0"/>
          <p:nvPr/>
        </p:nvPicPr>
        <p:blipFill>
          <a:blip r:embed="rId3">
            <a:alphaModFix amt="56000"/>
          </a:blip>
          <a:stretch>
            <a:fillRect/>
          </a:stretch>
        </p:blipFill>
        <p:spPr>
          <a:xfrm rot="10800000">
            <a:off x="754228" y="1103650"/>
            <a:ext cx="1918825" cy="2162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222;p34">
            <a:extLst>
              <a:ext uri="{FF2B5EF4-FFF2-40B4-BE49-F238E27FC236}">
                <a16:creationId xmlns:a16="http://schemas.microsoft.com/office/drawing/2014/main" id="{9328C8CF-B54A-459E-9090-776B26260A8F}"/>
              </a:ext>
            </a:extLst>
          </p:cNvPr>
          <p:cNvSpPr txBox="1">
            <a:spLocks/>
          </p:cNvSpPr>
          <p:nvPr/>
        </p:nvSpPr>
        <p:spPr>
          <a:xfrm>
            <a:off x="632377" y="1676350"/>
            <a:ext cx="3623272" cy="13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ncert One"/>
              <a:buNone/>
              <a:defRPr sz="2400" b="1" i="0" u="none" strike="noStrike" cap="none">
                <a:solidFill>
                  <a:schemeClr val="accent2"/>
                </a:solidFill>
                <a:latin typeface="Concert One"/>
                <a:ea typeface="Concert One"/>
                <a:cs typeface="Concert One"/>
                <a:sym typeface="Concert On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171450" indent="-171450">
              <a:lnSpc>
                <a:spcPct val="150000"/>
              </a:lnSpc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API does NOT return HTML</a:t>
            </a:r>
          </a:p>
          <a:p>
            <a:pPr marL="171450" indent="-171450">
              <a:lnSpc>
                <a:spcPct val="150000"/>
              </a:lnSpc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API does NOT render page</a:t>
            </a:r>
          </a:p>
          <a:p>
            <a:pPr marL="171450" indent="-171450">
              <a:lnSpc>
                <a:spcPct val="150000"/>
              </a:lnSpc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API returns DATA only</a:t>
            </a:r>
          </a:p>
          <a:p>
            <a:pPr marL="171450" indent="-171450">
              <a:lnSpc>
                <a:spcPct val="150000"/>
              </a:lnSpc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Frontend decides how to display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13E85C-2965-4D79-9EFB-432AF801BC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6092" y="997531"/>
            <a:ext cx="3443680" cy="3204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777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72"/>
          <p:cNvSpPr txBox="1">
            <a:spLocks noGrp="1"/>
          </p:cNvSpPr>
          <p:nvPr>
            <p:ph type="title"/>
          </p:nvPr>
        </p:nvSpPr>
        <p:spPr>
          <a:xfrm rot="877333">
            <a:off x="6289345" y="436639"/>
            <a:ext cx="2155721" cy="15108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</a:t>
            </a:r>
            <a:br>
              <a:rPr lang="en" dirty="0"/>
            </a:br>
            <a:r>
              <a:rPr lang="en" dirty="0"/>
              <a:t>you</a:t>
            </a:r>
            <a:endParaRPr dirty="0"/>
          </a:p>
        </p:txBody>
      </p:sp>
      <p:sp>
        <p:nvSpPr>
          <p:cNvPr id="630" name="Google Shape;630;p72"/>
          <p:cNvSpPr/>
          <p:nvPr/>
        </p:nvSpPr>
        <p:spPr>
          <a:xfrm rot="785759">
            <a:off x="6437509" y="1397553"/>
            <a:ext cx="1699276" cy="74075"/>
          </a:xfrm>
          <a:custGeom>
            <a:avLst/>
            <a:gdLst/>
            <a:ahLst/>
            <a:cxnLst/>
            <a:rect l="l" t="t" r="r" b="b"/>
            <a:pathLst>
              <a:path w="39714" h="4104" extrusionOk="0">
                <a:moveTo>
                  <a:pt x="0" y="4104"/>
                </a:moveTo>
                <a:cubicBezTo>
                  <a:pt x="11382" y="-2730"/>
                  <a:pt x="26437" y="1070"/>
                  <a:pt x="39714" y="1070"/>
                </a:cubicBezTo>
              </a:path>
            </a:pathLst>
          </a:cu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Notebook Lesson by Slidesgo">
  <a:themeElements>
    <a:clrScheme name="Simple Light">
      <a:dk1>
        <a:srgbClr val="595959"/>
      </a:dk1>
      <a:lt1>
        <a:srgbClr val="F1C232"/>
      </a:lt1>
      <a:dk2>
        <a:srgbClr val="595959"/>
      </a:dk2>
      <a:lt2>
        <a:srgbClr val="A8D68C"/>
      </a:lt2>
      <a:accent1>
        <a:srgbClr val="F1C232"/>
      </a:accent1>
      <a:accent2>
        <a:srgbClr val="B44141"/>
      </a:accent2>
      <a:accent3>
        <a:srgbClr val="F1C232"/>
      </a:accent3>
      <a:accent4>
        <a:srgbClr val="DF7070"/>
      </a:accent4>
      <a:accent5>
        <a:srgbClr val="7A9E64"/>
      </a:accent5>
      <a:accent6>
        <a:srgbClr val="595959"/>
      </a:accent6>
      <a:hlink>
        <a:srgbClr val="59595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3317</TotalTime>
  <Words>176</Words>
  <Application>Microsoft Office PowerPoint</Application>
  <PresentationFormat>On-screen Show (16:9)</PresentationFormat>
  <Paragraphs>30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Khmer OS System</vt:lpstr>
      <vt:lpstr>Anonymous Pro</vt:lpstr>
      <vt:lpstr>Arial</vt:lpstr>
      <vt:lpstr>Roboto Mono Medium</vt:lpstr>
      <vt:lpstr>Concert One</vt:lpstr>
      <vt:lpstr>Coming Soon</vt:lpstr>
      <vt:lpstr>Notebook Lesson by Slidesgo</vt:lpstr>
      <vt:lpstr>Node.js  Express Apps</vt:lpstr>
      <vt:lpstr>01</vt:lpstr>
      <vt:lpstr>PowerPoint Presentation</vt:lpstr>
      <vt:lpstr>02</vt:lpstr>
      <vt:lpstr>Create an Express </vt:lpstr>
      <vt:lpstr>03</vt:lpstr>
      <vt:lpstr>Create an Express </vt:lpstr>
      <vt:lpstr>Summary</vt:lpstr>
      <vt:lpstr>Thanks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NOTEBOOK LESSON</dc:title>
  <cp:lastModifiedBy>Nanith</cp:lastModifiedBy>
  <cp:revision>25</cp:revision>
  <dcterms:modified xsi:type="dcterms:W3CDTF">2026-02-25T08:45:05Z</dcterms:modified>
</cp:coreProperties>
</file>