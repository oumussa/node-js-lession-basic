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4"/>
  </p:notesMasterIdLst>
  <p:sldIdLst>
    <p:sldId id="256" r:id="rId2"/>
    <p:sldId id="259" r:id="rId3"/>
    <p:sldId id="362" r:id="rId4"/>
    <p:sldId id="347" r:id="rId5"/>
    <p:sldId id="363" r:id="rId6"/>
    <p:sldId id="350" r:id="rId7"/>
    <p:sldId id="351" r:id="rId8"/>
    <p:sldId id="358" r:id="rId9"/>
    <p:sldId id="262" r:id="rId10"/>
    <p:sldId id="364" r:id="rId11"/>
    <p:sldId id="365" r:id="rId12"/>
    <p:sldId id="298" r:id="rId13"/>
  </p:sldIdLst>
  <p:sldSz cx="9144000" cy="5143500" type="screen16x9"/>
  <p:notesSz cx="6858000" cy="9144000"/>
  <p:embeddedFontLst>
    <p:embeddedFont>
      <p:font typeface="Anonymous Pro" panose="020B0604020202020204" charset="0"/>
      <p:regular r:id="rId15"/>
      <p:bold r:id="rId16"/>
      <p:italic r:id="rId17"/>
      <p:boldItalic r:id="rId18"/>
    </p:embeddedFont>
    <p:embeddedFont>
      <p:font typeface="Coming Soon" panose="020B0604020202020204" charset="0"/>
      <p:regular r:id="rId19"/>
    </p:embeddedFont>
    <p:embeddedFont>
      <p:font typeface="Concert One" pitchFamily="2" charset="0"/>
      <p:regular r:id="rId20"/>
    </p:embeddedFont>
    <p:embeddedFont>
      <p:font typeface="Khmer OS System" panose="02000500000000020004" pitchFamily="2" charset="0"/>
      <p:regular r:id="rId21"/>
    </p:embeddedFont>
    <p:embeddedFont>
      <p:font typeface="Roboto Mono Medium" panose="00000009000000000000" pitchFamily="49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3EFD3BA-712F-4097-8564-0424175EBBD8}">
  <a:tblStyle styleId="{43EFD3BA-712F-4097-8564-0424175EBB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7" d="100"/>
          <a:sy n="137" d="100"/>
        </p:scale>
        <p:origin x="8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150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2625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199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8302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6149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8116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0086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99163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853034354b_0_24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853034354b_0_24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61089"/>
          <a:stretch/>
        </p:blipFill>
        <p:spPr>
          <a:xfrm rot="-620881">
            <a:off x="1853551" y="40483"/>
            <a:ext cx="2068426" cy="17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1047887" y="524012"/>
            <a:ext cx="7048226" cy="410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3925" y="2989525"/>
            <a:ext cx="1584774" cy="1852801"/>
          </a:xfrm>
          <a:prstGeom prst="rect">
            <a:avLst/>
          </a:prstGeom>
          <a:noFill/>
          <a:ln>
            <a:noFill/>
          </a:ln>
          <a:effectLst>
            <a:outerShdw blurRad="57150" dist="19050" dir="3300000" algn="bl" rotWithShape="0">
              <a:srgbClr val="000000">
                <a:alpha val="34000"/>
              </a:srgbClr>
            </a:outerShdw>
          </a:effectLst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532100" y="1728423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151" y="447699"/>
            <a:ext cx="5395700" cy="42481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673000" y="2550900"/>
            <a:ext cx="3798000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2937741" y="3307350"/>
            <a:ext cx="3268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2" hasCustomPrompt="1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7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996375" y="1900525"/>
            <a:ext cx="2901600" cy="22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marL="914400" lvl="1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marL="1371600" lvl="2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marL="1828800" lvl="3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marL="2286000" lvl="4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marL="2743200" lvl="5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marL="3200400" lvl="6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marL="3657600" lvl="7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marL="4114800" lvl="8" indent="-3302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896489">
            <a:off x="6092370" y="-1056710"/>
            <a:ext cx="2878009" cy="3364796"/>
          </a:xfrm>
          <a:prstGeom prst="rect">
            <a:avLst/>
          </a:prstGeom>
          <a:noFill/>
          <a:ln>
            <a:noFill/>
          </a:ln>
          <a:effectLst>
            <a:outerShdw blurRad="85725" dist="57150" dir="5400000" algn="bl" rotWithShape="0">
              <a:srgbClr val="000000">
                <a:alpha val="39000"/>
              </a:srgbClr>
            </a:outerShdw>
          </a:effectLst>
        </p:spPr>
      </p:pic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 rot="877333">
            <a:off x="6289345" y="436639"/>
            <a:ext cx="2155721" cy="15108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APTION_ONLY_1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4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SECTION_TITLE_AND_DESCRIPTION_1_1_3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5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IG_NUMBER_1_1_2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6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6"/>
          <p:cNvPicPr preferRelativeResize="0"/>
          <p:nvPr/>
        </p:nvPicPr>
        <p:blipFill rotWithShape="1">
          <a:blip r:embed="rId3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650175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1262550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>
            <a:off x="1922400" y="3538630"/>
            <a:ext cx="21402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nonymous Pro"/>
              <a:buNone/>
              <a:defRPr sz="1600" b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ubTitle" idx="1"/>
          </p:nvPr>
        </p:nvSpPr>
        <p:spPr>
          <a:xfrm>
            <a:off x="1922400" y="1269487"/>
            <a:ext cx="3439500" cy="21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ncert One"/>
              <a:buNone/>
              <a:defRPr sz="2400" b="1">
                <a:latin typeface="Concert One"/>
                <a:ea typeface="Concert One"/>
                <a:cs typeface="Concert One"/>
                <a:sym typeface="Concert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7077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ncert One"/>
              <a:buNone/>
              <a:defRPr sz="2800" b="1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249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Char char="●"/>
              <a:defRPr sz="1800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69" r:id="rId5"/>
    <p:sldLayoutId id="2147483670" r:id="rId6"/>
    <p:sldLayoutId id="2147483671" r:id="rId7"/>
    <p:sldLayoutId id="2147483672" r:id="rId8"/>
    <p:sldLayoutId id="214748367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>
            <a:spLocks noGrp="1"/>
          </p:cNvSpPr>
          <p:nvPr>
            <p:ph type="ctrTitle"/>
          </p:nvPr>
        </p:nvSpPr>
        <p:spPr>
          <a:xfrm>
            <a:off x="1532100" y="1714463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solidFill>
                  <a:schemeClr val="accent2"/>
                </a:solidFill>
              </a:rPr>
              <a:t>Node</a:t>
            </a:r>
            <a:r>
              <a:rPr lang="en" sz="5400" dirty="0"/>
              <a:t>.js</a:t>
            </a:r>
            <a:br>
              <a:rPr lang="en" sz="5400" dirty="0"/>
            </a:br>
            <a:r>
              <a:rPr lang="en" sz="5400" dirty="0">
                <a:solidFill>
                  <a:schemeClr val="accent2"/>
                </a:solidFill>
              </a:rPr>
              <a:t> Req and Res</a:t>
            </a:r>
            <a:endParaRPr sz="5400" dirty="0">
              <a:solidFill>
                <a:schemeClr val="accent2"/>
              </a:solidFill>
            </a:endParaRPr>
          </a:p>
        </p:txBody>
      </p:sp>
      <p:sp>
        <p:nvSpPr>
          <p:cNvPr id="179" name="Google Shape;179;p30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/>
              <a:t>Here </a:t>
            </a:r>
            <a:r>
              <a:rPr lang="en" dirty="0"/>
              <a:t>We Go</a:t>
            </a:r>
            <a:r>
              <a:rPr lang="en" b="0" dirty="0"/>
              <a:t>!</a:t>
            </a:r>
            <a:endParaRPr b="0" dirty="0"/>
          </a:p>
        </p:txBody>
      </p:sp>
      <p:sp>
        <p:nvSpPr>
          <p:cNvPr id="180" name="Google Shape;180;p30"/>
          <p:cNvSpPr/>
          <p:nvPr/>
        </p:nvSpPr>
        <p:spPr>
          <a:xfrm>
            <a:off x="1532100" y="2886376"/>
            <a:ext cx="617075" cy="15875"/>
          </a:xfrm>
          <a:custGeom>
            <a:avLst/>
            <a:gdLst/>
            <a:ahLst/>
            <a:cxnLst/>
            <a:rect l="l" t="t" r="r" b="b"/>
            <a:pathLst>
              <a:path w="24683" h="635" extrusionOk="0">
                <a:moveTo>
                  <a:pt x="0" y="635"/>
                </a:moveTo>
                <a:cubicBezTo>
                  <a:pt x="8115" y="-719"/>
                  <a:pt x="16455" y="635"/>
                  <a:pt x="24683" y="635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1" name="Google Shape;181;p30"/>
          <p:cNvSpPr/>
          <p:nvPr/>
        </p:nvSpPr>
        <p:spPr>
          <a:xfrm>
            <a:off x="7305075" y="2869286"/>
            <a:ext cx="613650" cy="13775"/>
          </a:xfrm>
          <a:custGeom>
            <a:avLst/>
            <a:gdLst/>
            <a:ahLst/>
            <a:cxnLst/>
            <a:rect l="l" t="t" r="r" b="b"/>
            <a:pathLst>
              <a:path w="24546" h="551" extrusionOk="0">
                <a:moveTo>
                  <a:pt x="0" y="551"/>
                </a:moveTo>
                <a:cubicBezTo>
                  <a:pt x="8133" y="-353"/>
                  <a:pt x="16363" y="137"/>
                  <a:pt x="24546" y="137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2" name="Google Shape;182;p30"/>
          <p:cNvSpPr/>
          <p:nvPr/>
        </p:nvSpPr>
        <p:spPr>
          <a:xfrm>
            <a:off x="1889900" y="4413504"/>
            <a:ext cx="992850" cy="102600"/>
          </a:xfrm>
          <a:custGeom>
            <a:avLst/>
            <a:gdLst/>
            <a:ahLst/>
            <a:cxnLst/>
            <a:rect l="l" t="t" r="r" b="b"/>
            <a:pathLst>
              <a:path w="39714" h="4104" extrusionOk="0">
                <a:moveTo>
                  <a:pt x="0" y="4104"/>
                </a:moveTo>
                <a:cubicBezTo>
                  <a:pt x="11382" y="-2730"/>
                  <a:pt x="26437" y="1070"/>
                  <a:pt x="39714" y="1070"/>
                </a:cubicBez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E8A74E-1445-6BC3-DA93-CA82AAEFEA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753" y="821328"/>
            <a:ext cx="2806493" cy="1214575"/>
          </a:xfrm>
          <a:prstGeom prst="rect">
            <a:avLst/>
          </a:prstGeom>
        </p:spPr>
      </p:pic>
      <p:sp>
        <p:nvSpPr>
          <p:cNvPr id="3" name="Google Shape;216;p33">
            <a:extLst>
              <a:ext uri="{FF2B5EF4-FFF2-40B4-BE49-F238E27FC236}">
                <a16:creationId xmlns:a16="http://schemas.microsoft.com/office/drawing/2014/main" id="{42FD002E-FB10-E499-6A2D-2C8C901F4E71}"/>
              </a:ext>
            </a:extLst>
          </p:cNvPr>
          <p:cNvSpPr txBox="1">
            <a:spLocks/>
          </p:cNvSpPr>
          <p:nvPr/>
        </p:nvSpPr>
        <p:spPr>
          <a:xfrm>
            <a:off x="5390347" y="3851039"/>
            <a:ext cx="2528378" cy="471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oncert One"/>
              <a:buNone/>
              <a:defRPr sz="40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2000" dirty="0"/>
              <a:t>By: Chen </a:t>
            </a:r>
            <a:r>
              <a:rPr lang="en-US" sz="2000" dirty="0" err="1"/>
              <a:t>Sovanminea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672999" y="2550900"/>
            <a:ext cx="4062847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Request Object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>
            <a:spLocks noGrp="1"/>
          </p:cNvSpPr>
          <p:nvPr>
            <p:ph type="body" idx="1"/>
          </p:nvPr>
        </p:nvSpPr>
        <p:spPr>
          <a:xfrm>
            <a:off x="4728227" y="912836"/>
            <a:ext cx="3858834" cy="8838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យើងក៍អាចមើល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request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ដែលទទួលបានពី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user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ផងដែរ។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Example: URL, Method etc.</a:t>
            </a:r>
          </a:p>
        </p:txBody>
      </p:sp>
      <p:sp>
        <p:nvSpPr>
          <p:cNvPr id="223" name="Google Shape;223;p34"/>
          <p:cNvSpPr txBox="1">
            <a:spLocks noGrp="1"/>
          </p:cNvSpPr>
          <p:nvPr>
            <p:ph type="title"/>
          </p:nvPr>
        </p:nvSpPr>
        <p:spPr>
          <a:xfrm>
            <a:off x="632378" y="711181"/>
            <a:ext cx="289565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Request Object</a:t>
            </a:r>
            <a:endParaRPr dirty="0"/>
          </a:p>
        </p:txBody>
      </p:sp>
      <p:pic>
        <p:nvPicPr>
          <p:cNvPr id="224" name="Google Shape;224;p34"/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754228" y="1103650"/>
            <a:ext cx="1918825" cy="2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22;p34">
            <a:extLst>
              <a:ext uri="{FF2B5EF4-FFF2-40B4-BE49-F238E27FC236}">
                <a16:creationId xmlns:a16="http://schemas.microsoft.com/office/drawing/2014/main" id="{91B8854C-B292-257C-D48B-549884DA81F9}"/>
              </a:ext>
            </a:extLst>
          </p:cNvPr>
          <p:cNvSpPr txBox="1">
            <a:spLocks/>
          </p:cNvSpPr>
          <p:nvPr/>
        </p:nvSpPr>
        <p:spPr>
          <a:xfrm>
            <a:off x="443881" y="1314922"/>
            <a:ext cx="4171470" cy="995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ncert One"/>
              <a:buNone/>
              <a:defRPr sz="24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Request Object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គឺប្រើសម្រាប់ទទួលការ​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request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ពី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user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។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យើងអាចមើល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request object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បានតាមរយៈ 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console.log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។</a:t>
            </a: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21C6C4-B4C6-FC2E-3F0E-3E237D1AE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235" y="2261569"/>
            <a:ext cx="2600762" cy="236397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BB5FC2-E633-85E5-A897-CDB90226A0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887" y="1864756"/>
            <a:ext cx="3612296" cy="16496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8" name="Google Shape;244;p36">
            <a:extLst>
              <a:ext uri="{FF2B5EF4-FFF2-40B4-BE49-F238E27FC236}">
                <a16:creationId xmlns:a16="http://schemas.microsoft.com/office/drawing/2014/main" id="{791EC710-0B4D-9793-88D4-28B840CBC855}"/>
              </a:ext>
            </a:extLst>
          </p:cNvPr>
          <p:cNvGrpSpPr/>
          <p:nvPr/>
        </p:nvGrpSpPr>
        <p:grpSpPr>
          <a:xfrm>
            <a:off x="7679802" y="3995353"/>
            <a:ext cx="824184" cy="712067"/>
            <a:chOff x="2341425" y="238100"/>
            <a:chExt cx="1328900" cy="1148125"/>
          </a:xfrm>
        </p:grpSpPr>
        <p:sp>
          <p:nvSpPr>
            <p:cNvPr id="9" name="Google Shape;245;p36">
              <a:extLst>
                <a:ext uri="{FF2B5EF4-FFF2-40B4-BE49-F238E27FC236}">
                  <a16:creationId xmlns:a16="http://schemas.microsoft.com/office/drawing/2014/main" id="{B4AFE74B-8E33-7F5B-080C-9702E24FEBC2}"/>
                </a:ext>
              </a:extLst>
            </p:cNvPr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6;p36">
              <a:extLst>
                <a:ext uri="{FF2B5EF4-FFF2-40B4-BE49-F238E27FC236}">
                  <a16:creationId xmlns:a16="http://schemas.microsoft.com/office/drawing/2014/main" id="{A71C8F32-8B51-A15C-AF98-4CBA319B096E}"/>
                </a:ext>
              </a:extLst>
            </p:cNvPr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47;p36">
              <a:extLst>
                <a:ext uri="{FF2B5EF4-FFF2-40B4-BE49-F238E27FC236}">
                  <a16:creationId xmlns:a16="http://schemas.microsoft.com/office/drawing/2014/main" id="{037D58C0-6D45-40A8-C9F0-E668DA617F48}"/>
                </a:ext>
              </a:extLst>
            </p:cNvPr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48;p36">
              <a:extLst>
                <a:ext uri="{FF2B5EF4-FFF2-40B4-BE49-F238E27FC236}">
                  <a16:creationId xmlns:a16="http://schemas.microsoft.com/office/drawing/2014/main" id="{495E98F0-FF4A-40B6-C146-ECDFEA5B84BB}"/>
                </a:ext>
              </a:extLst>
            </p:cNvPr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49;p36">
              <a:extLst>
                <a:ext uri="{FF2B5EF4-FFF2-40B4-BE49-F238E27FC236}">
                  <a16:creationId xmlns:a16="http://schemas.microsoft.com/office/drawing/2014/main" id="{F72326F0-9031-3AB8-2B5A-76EFE252DEE6}"/>
                </a:ext>
              </a:extLst>
            </p:cNvPr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50;p36">
              <a:extLst>
                <a:ext uri="{FF2B5EF4-FFF2-40B4-BE49-F238E27FC236}">
                  <a16:creationId xmlns:a16="http://schemas.microsoft.com/office/drawing/2014/main" id="{298EAD8C-C560-FE3E-093D-F6530FF60DB4}"/>
                </a:ext>
              </a:extLst>
            </p:cNvPr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251;p36">
              <a:extLst>
                <a:ext uri="{FF2B5EF4-FFF2-40B4-BE49-F238E27FC236}">
                  <a16:creationId xmlns:a16="http://schemas.microsoft.com/office/drawing/2014/main" id="{4365686C-C094-EA6D-DD30-9E73B40B75A9}"/>
                </a:ext>
              </a:extLst>
            </p:cNvPr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52;p36">
              <a:extLst>
                <a:ext uri="{FF2B5EF4-FFF2-40B4-BE49-F238E27FC236}">
                  <a16:creationId xmlns:a16="http://schemas.microsoft.com/office/drawing/2014/main" id="{DF8F97C8-7424-8F1B-86F4-1933D25E0F2C}"/>
                </a:ext>
              </a:extLst>
            </p:cNvPr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53;p36">
              <a:extLst>
                <a:ext uri="{FF2B5EF4-FFF2-40B4-BE49-F238E27FC236}">
                  <a16:creationId xmlns:a16="http://schemas.microsoft.com/office/drawing/2014/main" id="{194873F0-8786-1FAC-A279-85A8D5A8E851}"/>
                </a:ext>
              </a:extLst>
            </p:cNvPr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17509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672999" y="2550900"/>
            <a:ext cx="4055867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Response Object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9752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>
            <a:spLocks noGrp="1"/>
          </p:cNvSpPr>
          <p:nvPr>
            <p:ph type="title"/>
          </p:nvPr>
        </p:nvSpPr>
        <p:spPr>
          <a:xfrm>
            <a:off x="632378" y="711181"/>
            <a:ext cx="289565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Response Object</a:t>
            </a:r>
            <a:endParaRPr dirty="0"/>
          </a:p>
        </p:txBody>
      </p:sp>
      <p:pic>
        <p:nvPicPr>
          <p:cNvPr id="224" name="Google Shape;224;p34"/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754228" y="1103650"/>
            <a:ext cx="1918825" cy="2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22;p34">
            <a:extLst>
              <a:ext uri="{FF2B5EF4-FFF2-40B4-BE49-F238E27FC236}">
                <a16:creationId xmlns:a16="http://schemas.microsoft.com/office/drawing/2014/main" id="{91B8854C-B292-257C-D48B-549884DA81F9}"/>
              </a:ext>
            </a:extLst>
          </p:cNvPr>
          <p:cNvSpPr txBox="1">
            <a:spLocks/>
          </p:cNvSpPr>
          <p:nvPr/>
        </p:nvSpPr>
        <p:spPr>
          <a:xfrm>
            <a:off x="443881" y="1314922"/>
            <a:ext cx="4171470" cy="995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ncert One"/>
              <a:buNone/>
              <a:defRPr sz="24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Response Object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គឺប្រើសម្រាប់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response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ទៅ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user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វិញនៅអ្វីដែលគេបាន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request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មកកាន់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server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។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sp>
        <p:nvSpPr>
          <p:cNvPr id="2" name="Google Shape;222;p34">
            <a:extLst>
              <a:ext uri="{FF2B5EF4-FFF2-40B4-BE49-F238E27FC236}">
                <a16:creationId xmlns:a16="http://schemas.microsoft.com/office/drawing/2014/main" id="{F257A445-7542-DFC8-D77F-6522BB6D79FB}"/>
              </a:ext>
            </a:extLst>
          </p:cNvPr>
          <p:cNvSpPr txBox="1">
            <a:spLocks/>
          </p:cNvSpPr>
          <p:nvPr/>
        </p:nvSpPr>
        <p:spPr>
          <a:xfrm>
            <a:off x="400530" y="1906636"/>
            <a:ext cx="4171470" cy="476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ncert One"/>
              <a:buNone/>
              <a:defRPr sz="24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ជំហានទី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1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យើងត្រូវ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en-US" sz="1200" b="0" dirty="0" err="1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setHeader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ទៅកាន់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browser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សិន</a:t>
            </a: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2CCE77-237F-9970-EEFF-3CE40BE8B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9" y="2375801"/>
            <a:ext cx="3700993" cy="457266"/>
          </a:xfrm>
          <a:prstGeom prst="rect">
            <a:avLst/>
          </a:prstGeom>
        </p:spPr>
      </p:pic>
      <p:sp>
        <p:nvSpPr>
          <p:cNvPr id="18" name="Google Shape;222;p34">
            <a:extLst>
              <a:ext uri="{FF2B5EF4-FFF2-40B4-BE49-F238E27FC236}">
                <a16:creationId xmlns:a16="http://schemas.microsoft.com/office/drawing/2014/main" id="{86FB75C3-525C-A705-A63F-12DCB7B7F706}"/>
              </a:ext>
            </a:extLst>
          </p:cNvPr>
          <p:cNvSpPr txBox="1">
            <a:spLocks/>
          </p:cNvSpPr>
          <p:nvPr/>
        </p:nvSpPr>
        <p:spPr>
          <a:xfrm>
            <a:off x="436901" y="2878001"/>
            <a:ext cx="4171470" cy="476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ncert One"/>
              <a:buNone/>
              <a:defRPr sz="24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ជំហានទី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2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យើងត្រូវកំណត់អ្វីដែលយើងចង់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response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D5B7DAE-5F47-9451-C7DF-4709A359F7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011" y="3432234"/>
            <a:ext cx="3478585" cy="716960"/>
          </a:xfrm>
          <a:prstGeom prst="rect">
            <a:avLst/>
          </a:prstGeom>
        </p:spPr>
      </p:pic>
      <p:sp>
        <p:nvSpPr>
          <p:cNvPr id="25" name="Google Shape;222;p34">
            <a:extLst>
              <a:ext uri="{FF2B5EF4-FFF2-40B4-BE49-F238E27FC236}">
                <a16:creationId xmlns:a16="http://schemas.microsoft.com/office/drawing/2014/main" id="{A6B1FEE9-FA49-8C05-6EFE-E60071597EF5}"/>
              </a:ext>
            </a:extLst>
          </p:cNvPr>
          <p:cNvSpPr txBox="1">
            <a:spLocks/>
          </p:cNvSpPr>
          <p:nvPr/>
        </p:nvSpPr>
        <p:spPr>
          <a:xfrm>
            <a:off x="4658702" y="1045521"/>
            <a:ext cx="4171470" cy="476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ncert One"/>
              <a:buNone/>
              <a:defRPr sz="24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ជំហានទី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3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យើងត្រូវប្រើប្រាស់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method end()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ដើម្បី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response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ទៅ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browser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វិញ</a:t>
            </a: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9FA74E2-EC4E-D261-2486-D353E2F528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804" y="1745203"/>
            <a:ext cx="3636745" cy="944426"/>
          </a:xfrm>
          <a:prstGeom prst="rect">
            <a:avLst/>
          </a:prstGeom>
        </p:spPr>
      </p:pic>
      <p:sp>
        <p:nvSpPr>
          <p:cNvPr id="28" name="Google Shape;222;p34">
            <a:extLst>
              <a:ext uri="{FF2B5EF4-FFF2-40B4-BE49-F238E27FC236}">
                <a16:creationId xmlns:a16="http://schemas.microsoft.com/office/drawing/2014/main" id="{D3F3D8F3-0EFC-6D1A-7648-A27D50880C71}"/>
              </a:ext>
            </a:extLst>
          </p:cNvPr>
          <p:cNvSpPr txBox="1">
            <a:spLocks/>
          </p:cNvSpPr>
          <p:nvPr/>
        </p:nvSpPr>
        <p:spPr>
          <a:xfrm>
            <a:off x="4608371" y="2802932"/>
            <a:ext cx="4098728" cy="731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ncert One"/>
              <a:buNone/>
              <a:defRPr sz="24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ចំពោះ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Content-Type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អាចមាន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return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ជា​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plain text, HTML, </a:t>
            </a:r>
            <a:r>
              <a:rPr lang="en-US" sz="1200" b="0" dirty="0" err="1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Json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etc.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458D262-5F77-CB3A-F32F-F846731C92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5982" y="3511346"/>
            <a:ext cx="3291397" cy="82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744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4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425402" y="2562194"/>
            <a:ext cx="4293193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Return HTML Page</a:t>
            </a:r>
          </a:p>
        </p:txBody>
      </p:sp>
    </p:spTree>
    <p:extLst>
      <p:ext uri="{BB962C8B-B14F-4D97-AF65-F5344CB8AC3E}">
        <p14:creationId xmlns:p14="http://schemas.microsoft.com/office/powerpoint/2010/main" val="2462641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/>
          <p:nvPr/>
        </p:nvSpPr>
        <p:spPr>
          <a:xfrm rot="-2148808">
            <a:off x="4797594" y="529159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29" name="Google Shape;229;p34"/>
          <p:cNvSpPr/>
          <p:nvPr/>
        </p:nvSpPr>
        <p:spPr>
          <a:xfrm>
            <a:off x="8144755" y="447155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6" name="Google Shape;222;p34">
            <a:extLst>
              <a:ext uri="{FF2B5EF4-FFF2-40B4-BE49-F238E27FC236}">
                <a16:creationId xmlns:a16="http://schemas.microsoft.com/office/drawing/2014/main" id="{EB8EB98A-7CB7-3C7C-276A-A6CF8EEC7B90}"/>
              </a:ext>
            </a:extLst>
          </p:cNvPr>
          <p:cNvSpPr txBox="1">
            <a:spLocks/>
          </p:cNvSpPr>
          <p:nvPr/>
        </p:nvSpPr>
        <p:spPr>
          <a:xfrm>
            <a:off x="592339" y="1238924"/>
            <a:ext cx="3888920" cy="680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យើងអាចធ្វើការ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return HTML page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ទៅកាន់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browser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ផងដែរ តាមរយៈ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node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។</a:t>
            </a:r>
            <a:endParaRPr lang="en-US" sz="1200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sp>
        <p:nvSpPr>
          <p:cNvPr id="4" name="Google Shape;223;p34">
            <a:extLst>
              <a:ext uri="{FF2B5EF4-FFF2-40B4-BE49-F238E27FC236}">
                <a16:creationId xmlns:a16="http://schemas.microsoft.com/office/drawing/2014/main" id="{F1738A8C-9954-BAE9-49F8-A589D1F6C6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2377" y="550641"/>
            <a:ext cx="30531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Return HTML Page</a:t>
            </a:r>
            <a:endParaRPr dirty="0"/>
          </a:p>
        </p:txBody>
      </p:sp>
      <p:pic>
        <p:nvPicPr>
          <p:cNvPr id="5" name="Google Shape;224;p34">
            <a:extLst>
              <a:ext uri="{FF2B5EF4-FFF2-40B4-BE49-F238E27FC236}">
                <a16:creationId xmlns:a16="http://schemas.microsoft.com/office/drawing/2014/main" id="{7799F7A2-CCFA-BD7F-8753-EA51F0BA3524}"/>
              </a:ext>
            </a:extLst>
          </p:cNvPr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754228" y="943110"/>
            <a:ext cx="1918825" cy="2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22;p34">
            <a:extLst>
              <a:ext uri="{FF2B5EF4-FFF2-40B4-BE49-F238E27FC236}">
                <a16:creationId xmlns:a16="http://schemas.microsoft.com/office/drawing/2014/main" id="{81C8612A-B140-2DA8-86F3-008E93ABF085}"/>
              </a:ext>
            </a:extLst>
          </p:cNvPr>
          <p:cNvSpPr txBox="1">
            <a:spLocks/>
          </p:cNvSpPr>
          <p:nvPr/>
        </p:nvSpPr>
        <p:spPr>
          <a:xfrm>
            <a:off x="592339" y="1876008"/>
            <a:ext cx="2974519" cy="413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ជំហានទី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1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យើងត្រូវ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import fs module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AA36F4-A14B-A68E-E95F-4E927CC0B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328" y="2357692"/>
            <a:ext cx="2790825" cy="609600"/>
          </a:xfrm>
          <a:prstGeom prst="rect">
            <a:avLst/>
          </a:prstGeom>
        </p:spPr>
      </p:pic>
      <p:sp>
        <p:nvSpPr>
          <p:cNvPr id="12" name="Google Shape;222;p34">
            <a:extLst>
              <a:ext uri="{FF2B5EF4-FFF2-40B4-BE49-F238E27FC236}">
                <a16:creationId xmlns:a16="http://schemas.microsoft.com/office/drawing/2014/main" id="{3910151B-8278-7317-C1C0-D077F4522DB8}"/>
              </a:ext>
            </a:extLst>
          </p:cNvPr>
          <p:cNvSpPr txBox="1">
            <a:spLocks/>
          </p:cNvSpPr>
          <p:nvPr/>
        </p:nvSpPr>
        <p:spPr>
          <a:xfrm>
            <a:off x="592338" y="3007254"/>
            <a:ext cx="3756297" cy="413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ជំហានទី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2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យើងត្រូវ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read file html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តាមរយៈ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path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6AFDE34-5968-0323-FE4D-4E7876A2A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7469" y="1414807"/>
            <a:ext cx="3653161" cy="254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144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4" y="1324474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425402" y="2562194"/>
            <a:ext cx="4293193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Basic Routing</a:t>
            </a:r>
          </a:p>
        </p:txBody>
      </p:sp>
    </p:spTree>
    <p:extLst>
      <p:ext uri="{BB962C8B-B14F-4D97-AF65-F5344CB8AC3E}">
        <p14:creationId xmlns:p14="http://schemas.microsoft.com/office/powerpoint/2010/main" val="2254451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36"/>
          <p:cNvGrpSpPr/>
          <p:nvPr/>
        </p:nvGrpSpPr>
        <p:grpSpPr>
          <a:xfrm>
            <a:off x="7679802" y="3995353"/>
            <a:ext cx="824184" cy="712067"/>
            <a:chOff x="2341425" y="238100"/>
            <a:chExt cx="1328900" cy="1148125"/>
          </a:xfrm>
        </p:grpSpPr>
        <p:sp>
          <p:nvSpPr>
            <p:cNvPr id="245" name="Google Shape;245;p36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6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6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6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6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6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" name="Google Shape;251;p36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6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6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Google Shape;222;p34">
            <a:extLst>
              <a:ext uri="{FF2B5EF4-FFF2-40B4-BE49-F238E27FC236}">
                <a16:creationId xmlns:a16="http://schemas.microsoft.com/office/drawing/2014/main" id="{688AD682-A0E6-E7C1-0550-0893DB60004E}"/>
              </a:ext>
            </a:extLst>
          </p:cNvPr>
          <p:cNvSpPr txBox="1">
            <a:spLocks/>
          </p:cNvSpPr>
          <p:nvPr/>
        </p:nvSpPr>
        <p:spPr>
          <a:xfrm>
            <a:off x="1259429" y="516069"/>
            <a:ext cx="6625141" cy="81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យើងប្រើប្រាស់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route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សម្រាប់គ្រប់គ្រង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page HTML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របស់យើងពេលដែល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user request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មក។</a:t>
            </a:r>
          </a:p>
          <a:p>
            <a:pPr marL="0" indent="0">
              <a:lnSpc>
                <a:spcPct val="150000"/>
              </a:lnSpc>
              <a:spcAft>
                <a:spcPts val="1600"/>
              </a:spcAft>
              <a:buNone/>
            </a:pPr>
            <a:endParaRPr lang="en-US" sz="1200" b="1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A169890-9BA1-7A58-FB15-34E892767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616" y="1054004"/>
            <a:ext cx="5601048" cy="352410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3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425402" y="2562194"/>
            <a:ext cx="4293193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Status Code</a:t>
            </a:r>
          </a:p>
        </p:txBody>
      </p:sp>
    </p:spTree>
    <p:extLst>
      <p:ext uri="{BB962C8B-B14F-4D97-AF65-F5344CB8AC3E}">
        <p14:creationId xmlns:p14="http://schemas.microsoft.com/office/powerpoint/2010/main" val="1988063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/>
          <p:nvPr/>
        </p:nvSpPr>
        <p:spPr>
          <a:xfrm rot="-2148808">
            <a:off x="4797594" y="529159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29" name="Google Shape;229;p34"/>
          <p:cNvSpPr/>
          <p:nvPr/>
        </p:nvSpPr>
        <p:spPr>
          <a:xfrm>
            <a:off x="8144755" y="447155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6" name="Google Shape;222;p34">
            <a:extLst>
              <a:ext uri="{FF2B5EF4-FFF2-40B4-BE49-F238E27FC236}">
                <a16:creationId xmlns:a16="http://schemas.microsoft.com/office/drawing/2014/main" id="{EB8EB98A-7CB7-3C7C-276A-A6CF8EEC7B90}"/>
              </a:ext>
            </a:extLst>
          </p:cNvPr>
          <p:cNvSpPr txBox="1">
            <a:spLocks/>
          </p:cNvSpPr>
          <p:nvPr/>
        </p:nvSpPr>
        <p:spPr>
          <a:xfrm>
            <a:off x="592339" y="1238924"/>
            <a:ext cx="3888920" cy="680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យើងប្រើ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status code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សម្រាប់​ពណ៍នា​អំពីប្រភេទនៃ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response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ទៅកាន់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browser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វិញ</a:t>
            </a:r>
            <a:endParaRPr lang="en-US" sz="1200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sp>
        <p:nvSpPr>
          <p:cNvPr id="4" name="Google Shape;223;p34">
            <a:extLst>
              <a:ext uri="{FF2B5EF4-FFF2-40B4-BE49-F238E27FC236}">
                <a16:creationId xmlns:a16="http://schemas.microsoft.com/office/drawing/2014/main" id="{F1738A8C-9954-BAE9-49F8-A589D1F6C6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2377" y="550641"/>
            <a:ext cx="30531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Status Code</a:t>
            </a:r>
            <a:endParaRPr dirty="0"/>
          </a:p>
        </p:txBody>
      </p:sp>
      <p:pic>
        <p:nvPicPr>
          <p:cNvPr id="5" name="Google Shape;224;p34">
            <a:extLst>
              <a:ext uri="{FF2B5EF4-FFF2-40B4-BE49-F238E27FC236}">
                <a16:creationId xmlns:a16="http://schemas.microsoft.com/office/drawing/2014/main" id="{7799F7A2-CCFA-BD7F-8753-EA51F0BA3524}"/>
              </a:ext>
            </a:extLst>
          </p:cNvPr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754228" y="943110"/>
            <a:ext cx="1918825" cy="21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1C55F9-2A1C-C4CF-44F2-D141BFD2D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228" y="2035125"/>
            <a:ext cx="3453514" cy="199940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5275AE-80DF-791F-A232-300958D306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028" y="1152510"/>
            <a:ext cx="3609744" cy="206966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11" name="Google Shape;244;p36">
            <a:extLst>
              <a:ext uri="{FF2B5EF4-FFF2-40B4-BE49-F238E27FC236}">
                <a16:creationId xmlns:a16="http://schemas.microsoft.com/office/drawing/2014/main" id="{1E5EEFC7-F45A-02E3-8C36-97DCC9A46570}"/>
              </a:ext>
            </a:extLst>
          </p:cNvPr>
          <p:cNvGrpSpPr/>
          <p:nvPr/>
        </p:nvGrpSpPr>
        <p:grpSpPr>
          <a:xfrm>
            <a:off x="7679802" y="3995353"/>
            <a:ext cx="824184" cy="712067"/>
            <a:chOff x="2341425" y="238100"/>
            <a:chExt cx="1328900" cy="1148125"/>
          </a:xfrm>
        </p:grpSpPr>
        <p:sp>
          <p:nvSpPr>
            <p:cNvPr id="13" name="Google Shape;245;p36">
              <a:extLst>
                <a:ext uri="{FF2B5EF4-FFF2-40B4-BE49-F238E27FC236}">
                  <a16:creationId xmlns:a16="http://schemas.microsoft.com/office/drawing/2014/main" id="{39028E36-72F3-7441-F47D-31303D407148}"/>
                </a:ext>
              </a:extLst>
            </p:cNvPr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46;p36">
              <a:extLst>
                <a:ext uri="{FF2B5EF4-FFF2-40B4-BE49-F238E27FC236}">
                  <a16:creationId xmlns:a16="http://schemas.microsoft.com/office/drawing/2014/main" id="{EAE485FC-A9A1-6EFD-448C-7A82F1385C67}"/>
                </a:ext>
              </a:extLst>
            </p:cNvPr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47;p36">
              <a:extLst>
                <a:ext uri="{FF2B5EF4-FFF2-40B4-BE49-F238E27FC236}">
                  <a16:creationId xmlns:a16="http://schemas.microsoft.com/office/drawing/2014/main" id="{76380560-F4FA-D0A2-E396-F5667A463F4A}"/>
                </a:ext>
              </a:extLst>
            </p:cNvPr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8;p36">
              <a:extLst>
                <a:ext uri="{FF2B5EF4-FFF2-40B4-BE49-F238E27FC236}">
                  <a16:creationId xmlns:a16="http://schemas.microsoft.com/office/drawing/2014/main" id="{E380A410-B3A9-D8DD-5657-DBFA8C170033}"/>
                </a:ext>
              </a:extLst>
            </p:cNvPr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9;p36">
              <a:extLst>
                <a:ext uri="{FF2B5EF4-FFF2-40B4-BE49-F238E27FC236}">
                  <a16:creationId xmlns:a16="http://schemas.microsoft.com/office/drawing/2014/main" id="{BF0B69FD-3760-EE85-8DE2-F193CEE0F3C2}"/>
                </a:ext>
              </a:extLst>
            </p:cNvPr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50;p36">
              <a:extLst>
                <a:ext uri="{FF2B5EF4-FFF2-40B4-BE49-F238E27FC236}">
                  <a16:creationId xmlns:a16="http://schemas.microsoft.com/office/drawing/2014/main" id="{A55F4CF0-0184-2F8A-0CA1-3503816FB59A}"/>
                </a:ext>
              </a:extLst>
            </p:cNvPr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251;p36">
              <a:extLst>
                <a:ext uri="{FF2B5EF4-FFF2-40B4-BE49-F238E27FC236}">
                  <a16:creationId xmlns:a16="http://schemas.microsoft.com/office/drawing/2014/main" id="{5E40A521-9940-5B8D-A0AD-92B7868E00F4}"/>
                </a:ext>
              </a:extLst>
            </p:cNvPr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52;p36">
              <a:extLst>
                <a:ext uri="{FF2B5EF4-FFF2-40B4-BE49-F238E27FC236}">
                  <a16:creationId xmlns:a16="http://schemas.microsoft.com/office/drawing/2014/main" id="{DE752E3C-EA37-4255-9FEA-6AF2D7F57D3B}"/>
                </a:ext>
              </a:extLst>
            </p:cNvPr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53;p36">
              <a:extLst>
                <a:ext uri="{FF2B5EF4-FFF2-40B4-BE49-F238E27FC236}">
                  <a16:creationId xmlns:a16="http://schemas.microsoft.com/office/drawing/2014/main" id="{8A93A090-945C-542D-60DE-31F34AC861EF}"/>
                </a:ext>
              </a:extLst>
            </p:cNvPr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73407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2"/>
          <p:cNvSpPr txBox="1">
            <a:spLocks noGrp="1"/>
          </p:cNvSpPr>
          <p:nvPr>
            <p:ph type="title"/>
          </p:nvPr>
        </p:nvSpPr>
        <p:spPr>
          <a:xfrm rot="877333">
            <a:off x="6289345" y="436639"/>
            <a:ext cx="2155721" cy="15108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br>
              <a:rPr lang="en" dirty="0"/>
            </a:br>
            <a:r>
              <a:rPr lang="en" dirty="0"/>
              <a:t>you</a:t>
            </a:r>
            <a:endParaRPr dirty="0"/>
          </a:p>
        </p:txBody>
      </p:sp>
      <p:sp>
        <p:nvSpPr>
          <p:cNvPr id="630" name="Google Shape;630;p72"/>
          <p:cNvSpPr/>
          <p:nvPr/>
        </p:nvSpPr>
        <p:spPr>
          <a:xfrm rot="785759">
            <a:off x="6437509" y="1397553"/>
            <a:ext cx="1699276" cy="74075"/>
          </a:xfrm>
          <a:custGeom>
            <a:avLst/>
            <a:gdLst/>
            <a:ahLst/>
            <a:cxnLst/>
            <a:rect l="l" t="t" r="r" b="b"/>
            <a:pathLst>
              <a:path w="39714" h="4104" extrusionOk="0">
                <a:moveTo>
                  <a:pt x="0" y="4104"/>
                </a:moveTo>
                <a:cubicBezTo>
                  <a:pt x="11382" y="-2730"/>
                  <a:pt x="26437" y="1070"/>
                  <a:pt x="39714" y="1070"/>
                </a:cubicBez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Notebook Lesson by Slidesgo">
  <a:themeElements>
    <a:clrScheme name="Simple Light">
      <a:dk1>
        <a:srgbClr val="595959"/>
      </a:dk1>
      <a:lt1>
        <a:srgbClr val="F1C232"/>
      </a:lt1>
      <a:dk2>
        <a:srgbClr val="595959"/>
      </a:dk2>
      <a:lt2>
        <a:srgbClr val="A8D68C"/>
      </a:lt2>
      <a:accent1>
        <a:srgbClr val="F1C232"/>
      </a:accent1>
      <a:accent2>
        <a:srgbClr val="B44141"/>
      </a:accent2>
      <a:accent3>
        <a:srgbClr val="F1C232"/>
      </a:accent3>
      <a:accent4>
        <a:srgbClr val="DF7070"/>
      </a:accent4>
      <a:accent5>
        <a:srgbClr val="7A9E64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2718</TotalTime>
  <Words>230</Words>
  <Application>Microsoft Office PowerPoint</Application>
  <PresentationFormat>On-screen Show (16:9)</PresentationFormat>
  <Paragraphs>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Concert One</vt:lpstr>
      <vt:lpstr>Coming Soon</vt:lpstr>
      <vt:lpstr>Khmer OS System</vt:lpstr>
      <vt:lpstr>Arial</vt:lpstr>
      <vt:lpstr>Roboto Mono Medium</vt:lpstr>
      <vt:lpstr>Anonymous Pro</vt:lpstr>
      <vt:lpstr>Notebook Lesson by Slidesgo</vt:lpstr>
      <vt:lpstr>Node.js  Req and Res</vt:lpstr>
      <vt:lpstr>01</vt:lpstr>
      <vt:lpstr>Request Object</vt:lpstr>
      <vt:lpstr>02</vt:lpstr>
      <vt:lpstr>Response Object</vt:lpstr>
      <vt:lpstr>03</vt:lpstr>
      <vt:lpstr>Return HTML Page</vt:lpstr>
      <vt:lpstr>04</vt:lpstr>
      <vt:lpstr>PowerPoint Presentation</vt:lpstr>
      <vt:lpstr>05</vt:lpstr>
      <vt:lpstr>Status Code</vt:lpstr>
      <vt:lpstr>Thanks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 LESSON</dc:title>
  <cp:lastModifiedBy>MineaThana</cp:lastModifiedBy>
  <cp:revision>21</cp:revision>
  <dcterms:modified xsi:type="dcterms:W3CDTF">2023-01-09T14:39:14Z</dcterms:modified>
</cp:coreProperties>
</file>